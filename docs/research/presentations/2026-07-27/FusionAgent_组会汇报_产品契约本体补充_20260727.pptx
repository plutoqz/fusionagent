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83e6504a64413" /><Relationship Type="http://schemas.openxmlformats.org/officeDocument/2006/relationships/extended-properties" Target="/docProps/app.xml" Id="R2c7fc636aefb4592" /><Relationship Type="http://schemas.openxmlformats.org/officeDocument/2006/relationships/officeDocument" Target="/ppt/presentation.xml" Id="Rd96e09dbf49f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ab83669dd42a0"/>
  </p:sldMasterIdLst>
  <p:notesMasterIdLst>
    <p:notesMasterId xmlns:r="http://schemas.openxmlformats.org/officeDocument/2006/relationships" r:id="Rf2453a28aa224684"/>
  </p:notesMasterIdLst>
  <p:sldIdLst>
    <p:sldId xmlns:r="http://schemas.openxmlformats.org/officeDocument/2006/relationships" id="256" r:id="R23178d73a5b74383"/>
    <p:sldId xmlns:r="http://schemas.openxmlformats.org/officeDocument/2006/relationships" id="257" r:id="Rb4fc549645ce43d1"/>
    <p:sldId xmlns:r="http://schemas.openxmlformats.org/officeDocument/2006/relationships" id="258" r:id="Rb4e847ade84c4422"/>
    <p:sldId xmlns:r="http://schemas.openxmlformats.org/officeDocument/2006/relationships" id="259" r:id="R0405ad211dfc4201"/>
    <p:sldId xmlns:r="http://schemas.openxmlformats.org/officeDocument/2006/relationships" id="260" r:id="Rbb5294bca2e24a85"/>
    <p:sldId xmlns:r="http://schemas.openxmlformats.org/officeDocument/2006/relationships" id="261" r:id="Rd3aa3dcaccba408c"/>
    <p:sldId xmlns:r="http://schemas.openxmlformats.org/officeDocument/2006/relationships" id="262" r:id="R6b58b6b791524bd3"/>
    <p:sldId xmlns:r="http://schemas.openxmlformats.org/officeDocument/2006/relationships" id="263" r:id="R50a7874953e1432a"/>
    <p:sldId xmlns:r="http://schemas.openxmlformats.org/officeDocument/2006/relationships" id="264" r:id="Rfdeac6d4331e4015"/>
    <p:sldId xmlns:r="http://schemas.openxmlformats.org/officeDocument/2006/relationships" id="265" r:id="R9d1123239a224748"/>
    <p:sldId xmlns:r="http://schemas.openxmlformats.org/officeDocument/2006/relationships" id="266" r:id="R8e537ad206034721"/>
    <p:sldId xmlns:r="http://schemas.openxmlformats.org/officeDocument/2006/relationships" id="267" r:id="Rbf7575d3261f4a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332cbdab24844" /><Relationship Type="http://schemas.openxmlformats.org/officeDocument/2006/relationships/slideMaster" Target="/ppt/slideMasters/slideMaster1.xml" Id="R443ab83669dd42a0" /><Relationship Type="http://schemas.openxmlformats.org/officeDocument/2006/relationships/notesMaster" Target="/ppt/notesMasters/notesMaster1.xml" Id="Rf2453a28aa224684" /><Relationship Type="http://schemas.openxmlformats.org/officeDocument/2006/relationships/presProps" Target="/ppt/presProps.xml" Id="R00356c7d5f7946a9" /><Relationship Type="http://schemas.openxmlformats.org/officeDocument/2006/relationships/tableStyles" Target="/ppt/tableStyles.xml" Id="R2547e65a1f634a9d" /><Relationship Type="http://schemas.openxmlformats.org/officeDocument/2006/relationships/slide" Target="/ppt/slides/slide1.xml" Id="R23178d73a5b74383" /><Relationship Type="http://schemas.openxmlformats.org/officeDocument/2006/relationships/slide" Target="/ppt/slides/slide2.xml" Id="Rb4fc549645ce43d1" /><Relationship Type="http://schemas.openxmlformats.org/officeDocument/2006/relationships/slide" Target="/ppt/slides/slide3.xml" Id="Rb4e847ade84c4422" /><Relationship Type="http://schemas.openxmlformats.org/officeDocument/2006/relationships/slide" Target="/ppt/slides/slide4.xml" Id="R0405ad211dfc4201" /><Relationship Type="http://schemas.openxmlformats.org/officeDocument/2006/relationships/slide" Target="/ppt/slides/slide5.xml" Id="Rbb5294bca2e24a85" /><Relationship Type="http://schemas.openxmlformats.org/officeDocument/2006/relationships/slide" Target="/ppt/slides/slide6.xml" Id="Rd3aa3dcaccba408c" /><Relationship Type="http://schemas.openxmlformats.org/officeDocument/2006/relationships/slide" Target="/ppt/slides/slide7.xml" Id="R6b58b6b791524bd3" /><Relationship Type="http://schemas.openxmlformats.org/officeDocument/2006/relationships/slide" Target="/ppt/slides/slide8.xml" Id="R50a7874953e1432a" /><Relationship Type="http://schemas.openxmlformats.org/officeDocument/2006/relationships/slide" Target="/ppt/slides/slide9.xml" Id="Rfdeac6d4331e4015" /><Relationship Type="http://schemas.openxmlformats.org/officeDocument/2006/relationships/slide" Target="/ppt/slides/slide10.xml" Id="R9d1123239a224748" /><Relationship Type="http://schemas.openxmlformats.org/officeDocument/2006/relationships/slide" Target="/ppt/slides/slide11.xml" Id="R8e537ad206034721" /><Relationship Type="http://schemas.openxmlformats.org/officeDocument/2006/relationships/slide" Target="/ppt/slides/slide12.xml" Id="Rbf7575d3261f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0c7768205c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261c073cf4629" /><Relationship Type="http://schemas.openxmlformats.org/officeDocument/2006/relationships/notesMaster" Target="/ppt/notesMasters/notesMaster1.xml" Id="Rc3d785df7aa9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05d314f814095" /><Relationship Type="http://schemas.openxmlformats.org/officeDocument/2006/relationships/notesMaster" Target="/ppt/notesMasters/notesMaster1.xml" Id="Rf71f8b4f3aa7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4e185532c42cd" /><Relationship Type="http://schemas.openxmlformats.org/officeDocument/2006/relationships/notesMaster" Target="/ppt/notesMasters/notesMaster1.xml" Id="R41c6b9f92793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e376e2de7249ea" /><Relationship Type="http://schemas.openxmlformats.org/officeDocument/2006/relationships/notesMaster" Target="/ppt/notesMasters/notesMaster1.xml" Id="R1ef362896a0d48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7661a8c4b64498" /><Relationship Type="http://schemas.openxmlformats.org/officeDocument/2006/relationships/notesMaster" Target="/ppt/notesMasters/notesMaster1.xml" Id="Rd44d66b16a574e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9f58a0bbf04d85" /><Relationship Type="http://schemas.openxmlformats.org/officeDocument/2006/relationships/notesMaster" Target="/ppt/notesMasters/notesMaster1.xml" Id="R3462e8178b974a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4b84057f24c99" /><Relationship Type="http://schemas.openxmlformats.org/officeDocument/2006/relationships/notesMaster" Target="/ppt/notesMasters/notesMaster1.xml" Id="Rbbd42d6ff661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c2fc47bf484de5" /><Relationship Type="http://schemas.openxmlformats.org/officeDocument/2006/relationships/notesMaster" Target="/ppt/notesMasters/notesMaster1.xml" Id="R180491d71d0140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99e2ae9fff4a48" /><Relationship Type="http://schemas.openxmlformats.org/officeDocument/2006/relationships/notesMaster" Target="/ppt/notesMasters/notesMaster1.xml" Id="R18f6f4fa966a4c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d221360e6547df" /><Relationship Type="http://schemas.openxmlformats.org/officeDocument/2006/relationships/notesMaster" Target="/ppt/notesMasters/notesMaster1.xml" Id="R2ff71a81712448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dace062c2d438c" /><Relationship Type="http://schemas.openxmlformats.org/officeDocument/2006/relationships/notesMaster" Target="/ppt/notesMasters/notesMaster1.xml" Id="R568b9021e85648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807ef11fd8468c" /><Relationship Type="http://schemas.openxmlformats.org/officeDocument/2006/relationships/notesMaster" Target="/ppt/notesMasters/notesMaster1.xml" Id="R01ef2413a1c7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D:/code/FusionAgent/docs/thesis/research_direction_guide_2026-07-09.md#L28-L37</a:t>
            </a:r>
          </a:p>
          <a:p xmlns:a="http://schemas.openxmlformats.org/drawingml/2006/main">
            <a:r>
              <a:t>- D:/code/FusionAgent/docs/thesis/research_direction_guide_2026-07-09.md#L629-L640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D:/code/FusionAgent/docs/superpowers/specs/2026-06-10-research-contribution-ledger.md</a:t>
            </a:r>
          </a:p>
          <a:p xmlns:a="http://schemas.openxmlformats.org/drawingml/2006/main">
            <a:r>
              <a:t>- D:/code/FusionAgent/docs/thesis/manifests/2026-07-20-c02-c04-c06-real-data.json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D:/code/FusionAgent/kg/seed_manifest.generated.json</a:t>
            </a:r>
          </a:p>
          <a:p xmlns:a="http://schemas.openxmlformats.org/drawingml/2006/main">
            <a:r>
              <a:t>- D:/code/FusionAgent/kg/models.py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D:/code/FusionAgent/docs/thesis/research_direction_guide_2026-07-09.md#L58-L89</a:t>
            </a:r>
          </a:p>
          <a:p xmlns:a="http://schemas.openxmlformats.org/drawingml/2006/main">
            <a:r>
              <a:t>- D:/code/FusionAgent/docs/thesis/research_direction_guide_2026-07-09.md#L454-L489</a:t>
            </a:r>
          </a:p>
          <a:p xmlns:a="http://schemas.openxmlformats.org/drawingml/2006/main">
            <a:r>
              <a:t>- D:/code/FusionAgent/docs/thesis/product_contract_spec.md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D:/code/FusionAgent/agent/retriever.py</a:t>
            </a:r>
          </a:p>
          <a:p xmlns:a="http://schemas.openxmlformats.org/drawingml/2006/main">
            <a:r>
              <a:t>- D:/code/FusionAgent/agent/planner.py</a:t>
            </a:r>
          </a:p>
          <a:p xmlns:a="http://schemas.openxmlformats.org/drawingml/2006/main">
            <a:r>
              <a:t>- D:/code/FusionAgent/agent/validator.py</a:t>
            </a:r>
          </a:p>
          <a:p xmlns:a="http://schemas.openxmlformats.org/drawingml/2006/main">
            <a:r>
              <a:t>- D:/code/FusionAgent/services/runtime_contract_service.py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D:/code/FusionAgent/docs/thesis/product_contract_spec.md</a:t>
            </a:r>
          </a:p>
          <a:p xmlns:a="http://schemas.openxmlformats.org/drawingml/2006/main">
            <a:r>
              <a:t>- D:/code/FusionAgent/docs/thesis/experiment_case_matrix.md</a:t>
            </a:r>
          </a:p>
          <a:p xmlns:a="http://schemas.openxmlformats.org/drawingml/2006/main">
            <a:r>
              <a:t>- D:/code/FusionAgent/services/contract_experiment_service.py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D:/code/FusionAgent/docs/thesis/manifests/2026-07-20-c02-c04-c06-real-data.json</a:t>
            </a:r>
          </a:p>
          <a:p xmlns:a="http://schemas.openxmlformats.org/drawingml/2006/main">
            <a:r>
              <a:t>- D:/code/FusionAgent/services/contract_experiment_service.py#L178-L223</a:t>
            </a:r>
          </a:p>
          <a:p xmlns:a="http://schemas.openxmlformats.org/drawingml/2006/main">
            <a:r>
              <a:t>- D:/code/freeze-c-evidence/exp-c02-c04-c06-20260725-final-93ebdc5/experiment_result.json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D:/code/freeze-c-evidence/exp-c02-c04-c06-20260725-final-93ebdc5/experiment_evidence_manifest.json</a:t>
            </a:r>
          </a:p>
          <a:p xmlns:a="http://schemas.openxmlformats.org/drawingml/2006/main">
            <a:r>
              <a:t>- D:/code/freeze-c-evidence/exp-c02-c04-c06-20260725-final-93ebdc5/experiment_result.json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D:/code/FusionAgent/docs/thesis/product_contract_spec.md#L99-L114</a:t>
            </a:r>
          </a:p>
          <a:p xmlns:a="http://schemas.openxmlformats.org/drawingml/2006/main">
            <a:r>
              <a:t>- D:/code/FusionAgent/docs/thesis/research_direction_guide_2026-07-09.md#L43-L89</a:t>
            </a:r>
          </a:p>
          <a:p xmlns:a="http://schemas.openxmlformats.org/drawingml/2006/main">
            <a:r>
              <a:t>- D:/code/FusionAgent/llm/providers/mock_provider.py</a:t>
            </a:r>
          </a:p>
          <a:p xmlns:a="http://schemas.openxmlformats.org/drawingml/2006/main">
            <a:r>
              <a:t>- D:/code/FusionAgent/scripts/eval_kg_ablation.py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D:/code/FusionAgent/docs/thesis/research_direction_guide_2026-07-09.md#L831-L898</a:t>
            </a:r>
          </a:p>
          <a:p xmlns:a="http://schemas.openxmlformats.org/drawingml/2006/main">
            <a:r>
              <a:t>- D:/code/FusionAgent/docs/thesis/experiment_case_matrix.md</a:t>
            </a:r>
          </a:p>
          <a:p xmlns:a="http://schemas.openxmlformats.org/drawingml/2006/main">
            <a:r>
              <a:t>- D:/code/FusionAgent/docs/superpowers/specs/2026-06-10-research-contribution-ledger.md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D:/code/FusionAgent/docs/thesis/research_direction_guide_2026-07-09.md#L956-L1016</a:t>
            </a:r>
          </a:p>
          <a:p xmlns:a="http://schemas.openxmlformats.org/drawingml/2006/main">
            <a:r>
              <a:t>- D:/code/FusionAgent/docs/thesis/research_direction_guide_2026-07-09.md#L1030-L1100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223323640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a865a6c43e43be" /><Relationship Type="http://schemas.openxmlformats.org/officeDocument/2006/relationships/slideLayout" Target="/ppt/slideLayouts/slideLayout1.xml" Id="R09f4ed607560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4ed607560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2e34106b940b5" /><Relationship Type="http://schemas.openxmlformats.org/officeDocument/2006/relationships/notesSlide" Target="/ppt/notesSlides/notesSlide1.xml" Id="R7ae55ca8aa3147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4373705194c4d" /><Relationship Type="http://schemas.openxmlformats.org/officeDocument/2006/relationships/notesSlide" Target="/ppt/notesSlides/notesSlide2.xml" Id="R5b40bb73fea7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176392e4049d7" /><Relationship Type="http://schemas.openxmlformats.org/officeDocument/2006/relationships/notesSlide" Target="/ppt/notesSlides/notesSlide3.xml" Id="Rf7de519df886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05b2edf7c4fcb" /><Relationship Type="http://schemas.openxmlformats.org/officeDocument/2006/relationships/chart" Target="/ppt/slides/charts/chart1.xml" Id="R9c1fcd8702ca402b" /><Relationship Type="http://schemas.openxmlformats.org/officeDocument/2006/relationships/notesSlide" Target="/ppt/notesSlides/notesSlide4.xml" Id="Rdcb04f670472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4e2685d134af1" /><Relationship Type="http://schemas.openxmlformats.org/officeDocument/2006/relationships/notesSlide" Target="/ppt/notesSlides/notesSlide5.xml" Id="Rff96a29fc5d0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3c71df66e4fff" /><Relationship Type="http://schemas.openxmlformats.org/officeDocument/2006/relationships/notesSlide" Target="/ppt/notesSlides/notesSlide6.xml" Id="R0b646f6b6439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efd0ad0a64bab" /><Relationship Type="http://schemas.openxmlformats.org/officeDocument/2006/relationships/notesSlide" Target="/ppt/notesSlides/notesSlide7.xml" Id="R45846af4bac147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af6e0d5504ee1" /><Relationship Type="http://schemas.openxmlformats.org/officeDocument/2006/relationships/notesSlide" Target="/ppt/notesSlides/notesSlide8.xml" Id="Rc447dd4fa1da49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a246d83b547f5" /><Relationship Type="http://schemas.openxmlformats.org/officeDocument/2006/relationships/notesSlide" Target="/ppt/notesSlides/notesSlide9.xml" Id="R753f7d1bffaa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fe0d247804add" /><Relationship Type="http://schemas.openxmlformats.org/officeDocument/2006/relationships/notesSlide" Target="/ppt/notesSlides/notesSlide10.xml" Id="R1b06ce4ffd4548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69d27f98e4f9f" /><Relationship Type="http://schemas.openxmlformats.org/officeDocument/2006/relationships/notesSlide" Target="/ppt/notesSlides/notesSlide11.xml" Id="R7663c96ef20e45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f1324272341af" /><Relationship Type="http://schemas.openxmlformats.org/officeDocument/2006/relationships/notesSlide" Target="/ppt/notesSlides/notesSlide12.xml" Id="R279431a3224046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6"/>
              <c:pt idx="0">
                <c:v>参数规范</c:v>
              </c:pt>
              <c:pt idx="1">
                <c:v>算法</c:v>
              </c:pt>
              <c:pt idx="2">
                <c:v>数据源</c:v>
              </c:pt>
              <c:pt idx="3">
                <c:v>数据类型</c:v>
              </c:pt>
              <c:pt idx="4">
                <c:v>工作流</c:v>
              </c:pt>
              <c:pt idx="5">
                <c:v>任务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33</c:v>
              </c:pt>
              <c:pt idx="2">
                <c:v>32</c:v>
              </c:pt>
              <c:pt idx="3">
                <c:v>27</c:v>
              </c:pt>
              <c:pt idx="4">
                <c:v>15</c:v>
              </c:pt>
              <c:pt idx="5">
                <c:v>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C6AF6BA-F7D4-471F-83DD-58DAF1C4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硕士课题组会汇报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4BD65E1-F08D-4DD1-94E0-45AAE7BD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838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FusionAgent 当前进展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与后续研究计划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1CE44F9-851B-47EC-8E1B-3CF67B2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重点：契约化知识图谱、数据产品生成与证据化验收</a:t>
            </a:r>
          </a:p>
        </p:txBody>
      </p:sp>
      <p:sp>
        <p:nvSpPr>
          <p:cNvPr id="4" name="accent-blue">
            <a:extLst xmlns:a="http://schemas.openxmlformats.org/drawingml/2006/main">
              <a:ext uri="{FF2B5EF4-FFF2-40B4-BE49-F238E27FC236}">
                <a16:creationId xmlns:a16="http://schemas.microsoft.com/office/drawing/2014/main" id="{6C8FD993-EAF4-43D0-B648-A9B82E1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accent-teal">
            <a:extLst xmlns:a="http://schemas.openxmlformats.org/drawingml/2006/main">
              <a:ext uri="{FF2B5EF4-FFF2-40B4-BE49-F238E27FC236}">
                <a16:creationId xmlns:a16="http://schemas.microsoft.com/office/drawing/2014/main" id="{21357509-737E-43D4-8B10-9EDDB83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384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accent-orange">
            <a:extLst xmlns:a="http://schemas.openxmlformats.org/drawingml/2006/main">
              <a:ext uri="{FF2B5EF4-FFF2-40B4-BE49-F238E27FC236}">
                <a16:creationId xmlns:a16="http://schemas.microsoft.com/office/drawing/2014/main" id="{F49ABE7B-1C73-4DF6-BEDB-E9D3971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052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2D81AB7-769E-412A-A374-FCA0D87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2026 年 7 月</a:t>
            </a:r>
          </a:p>
        </p:txBody>
      </p:sp>
    </p:spTree>
    <p:extLst>
      <p:ext uri="{BB962C8B-B14F-4D97-AF65-F5344CB8AC3E}">
        <p14:creationId xmlns:p14="http://schemas.microsoft.com/office/powerpoint/2010/main" val="1181359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F8B6AEF8-D70A-4ED5-B38F-C6AE2DA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研究核心：让知识图谱成为数据产品决策空间</a:t>
            </a:r>
          </a:p>
        </p:txBody>
      </p:sp>
      <p:sp>
        <p:nvSpPr>
          <p:cNvPr id="2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37D61CC4-C1F8-4465-A5A3-C0580B8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abel-研究定位-56-135">
            <a:extLst xmlns:a="http://schemas.openxmlformats.org/drawingml/2006/main">
              <a:ext uri="{FF2B5EF4-FFF2-40B4-BE49-F238E27FC236}">
                <a16:creationId xmlns:a16="http://schemas.microsoft.com/office/drawing/2014/main" id="{2BF8BFA0-0723-4A82-B405-750B6C0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4" name="focus">
            <a:extLst xmlns:a="http://schemas.openxmlformats.org/drawingml/2006/main">
              <a:ext uri="{FF2B5EF4-FFF2-40B4-BE49-F238E27FC236}">
                <a16:creationId xmlns:a16="http://schemas.microsoft.com/office/drawing/2014/main" id="{5152F4D3-BE84-4D05-BA78-F6D430E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面向灾害应急数据产品，统一表达任务需求、数据能力、质量要求、降级规则与证据关系，并约束智能规划和执行。</a:t>
            </a:r>
          </a:p>
        </p:txBody>
      </p:sp>
      <p:sp>
        <p:nvSpPr>
          <p:cNvPr id="5" name="rq-bg">
            <a:extLst xmlns:a="http://schemas.openxmlformats.org/drawingml/2006/main">
              <a:ext uri="{FF2B5EF4-FFF2-40B4-BE49-F238E27FC236}">
                <a16:creationId xmlns:a16="http://schemas.microsoft.com/office/drawing/2014/main" id="{7631D041-CC8F-4FE7-9BE5-9C2EF8B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86375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qnum-1">
            <a:extLst xmlns:a="http://schemas.openxmlformats.org/drawingml/2006/main">
              <a:ext uri="{FF2B5EF4-FFF2-40B4-BE49-F238E27FC236}">
                <a16:creationId xmlns:a16="http://schemas.microsoft.com/office/drawing/2014/main" id="{82B6829E-E9BF-4B49-9525-2E22943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q-1">
            <a:extLst xmlns:a="http://schemas.openxmlformats.org/drawingml/2006/main">
              <a:ext uri="{FF2B5EF4-FFF2-40B4-BE49-F238E27FC236}">
                <a16:creationId xmlns:a16="http://schemas.microsoft.com/office/drawing/2014/main" id="{4F5472A6-35ED-42EF-85E3-10BB9112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478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如何把应急数据需求形式化为可执行、可验收的知识？</a:t>
            </a:r>
          </a:p>
        </p:txBody>
      </p:sp>
      <p:sp>
        <p:nvSpPr>
          <p:cNvPr id="8" name="qnum-2">
            <a:extLst xmlns:a="http://schemas.openxmlformats.org/drawingml/2006/main">
              <a:ext uri="{FF2B5EF4-FFF2-40B4-BE49-F238E27FC236}">
                <a16:creationId xmlns:a16="http://schemas.microsoft.com/office/drawing/2014/main" id="{17415473-4030-42E1-ACEF-147323E7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BCC32DEF-CC1F-43DA-BEBA-BD65A982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知识图谱约束下的规划，能否比固定规则或简单排序更合理？</a:t>
            </a:r>
          </a:p>
        </p:txBody>
      </p:sp>
      <p:sp>
        <p:nvSpPr>
          <p:cNvPr id="10" name="qnum-3">
            <a:extLst xmlns:a="http://schemas.openxmlformats.org/drawingml/2006/main">
              <a:ext uri="{FF2B5EF4-FFF2-40B4-BE49-F238E27FC236}">
                <a16:creationId xmlns:a16="http://schemas.microsoft.com/office/drawing/2014/main" id="{B480FF99-D0FA-4E18-9276-17B1C48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14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q-3">
            <a:extLst xmlns:a="http://schemas.openxmlformats.org/drawingml/2006/main">
              <a:ext uri="{FF2B5EF4-FFF2-40B4-BE49-F238E27FC236}">
                <a16:creationId xmlns:a16="http://schemas.microsoft.com/office/drawing/2014/main" id="{4DC09DDB-277E-4B48-A56A-EAE7F110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系统能否正确判断完整交付、降级交付和不可满足状态？</a:t>
            </a:r>
          </a:p>
        </p:txBody>
      </p:sp>
      <p:sp>
        <p:nvSpPr>
          <p:cNvPr id="12" name="focus-boundary">
            <a:extLst xmlns:a="http://schemas.openxmlformats.org/drawingml/2006/main">
              <a:ext uri="{FF2B5EF4-FFF2-40B4-BE49-F238E27FC236}">
                <a16:creationId xmlns:a16="http://schemas.microsoft.com/office/drawing/2014/main" id="{815E1ED8-B262-4261-9117-A6E7392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5143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95250" anchor="t">
            <a:normAutofit fontScale="880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研究重点不在提出新的融合算法，也不把通用大模型智能或生产级部署作为当前主张。</a:t>
            </a:r>
          </a:p>
        </p:txBody>
      </p: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DA06DFB5-08CD-411D-91C7-0364619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E8AA9C41-96DD-43C1-A1DC-B540381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0144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182F4054-049B-49FB-A097-17262523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当前已完成可运行基线，研究论证仍需补齐</a:t>
            </a:r>
          </a:p>
        </p:txBody>
      </p:sp>
      <p:sp>
        <p:nvSpPr>
          <p:cNvPr id="2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3FE8EC30-9D34-4DA9-8976-7B48DE42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64EF8FD-190D-4019-8FEC-BFF1F1D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E5"/>
            </a:solidFill>
            <a:prstDash val="solid"/>
          </a:ln>
        </p:spPr>
      </p:sp>
      <p:sp>
        <p:nvSpPr>
          <p:cNvPr id="4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1DE6DA62-033E-4CF4-8F01-2A08A9A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09FC692E-091C-4618-B7C7-E01023E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能力知识建模</a:t>
            </a:r>
          </a:p>
        </p:txBody>
      </p:sp>
      <p:sp>
        <p:nvSpPr>
          <p:cNvPr id="6" name="timeline-state-0">
            <a:extLst xmlns:a="http://schemas.openxmlformats.org/drawingml/2006/main">
              <a:ext uri="{FF2B5EF4-FFF2-40B4-BE49-F238E27FC236}">
                <a16:creationId xmlns:a16="http://schemas.microsoft.com/office/drawing/2014/main" id="{11E4FBB2-105C-40D6-9A6B-720E4CA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8161275A-C2EE-42CE-9F3B-780CBF2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算法、数据源、数据类型、参数和工作流已经进入统一知识库。</a:t>
            </a:r>
          </a:p>
        </p:txBody>
      </p:sp>
      <p:sp>
        <p:nvSpPr>
          <p:cNvPr id="8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4225C156-7E27-4242-8A53-9376537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D3B94A69-7473-45AC-A77C-5957BF7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执行闭环</a:t>
            </a:r>
          </a:p>
        </p:txBody>
      </p:sp>
      <p:sp>
        <p:nvSpPr>
          <p:cNvPr id="10" name="timeline-state-1">
            <a:extLst xmlns:a="http://schemas.openxmlformats.org/drawingml/2006/main">
              <a:ext uri="{FF2B5EF4-FFF2-40B4-BE49-F238E27FC236}">
                <a16:creationId xmlns:a16="http://schemas.microsoft.com/office/drawing/2014/main" id="{435A555F-DA28-4F03-B3D9-5619F74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7D71B17D-5368-4C3E-B186-66418A7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检索、规划、校验、执行、质量检查和证据记录已连通。</a:t>
            </a:r>
          </a:p>
        </p:txBody>
      </p:sp>
      <p:sp>
        <p:nvSpPr>
          <p:cNvPr id="12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C3652F95-F975-49CE-A8DE-4E9EE3E3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2B8700F6-137B-4395-847B-2D64CE6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真实数据验证</a:t>
            </a:r>
          </a:p>
        </p:txBody>
      </p:sp>
      <p:sp>
        <p:nvSpPr>
          <p:cNvPr id="14" name="timeline-state-2">
            <a:extLst xmlns:a="http://schemas.openxmlformats.org/drawingml/2006/main">
              <a:ext uri="{FF2B5EF4-FFF2-40B4-BE49-F238E27FC236}">
                <a16:creationId xmlns:a16="http://schemas.microsoft.com/office/drawing/2014/main" id="{46282BFA-BEF2-4BA6-941A-1028821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已完成基线</a:t>
            </a:r>
          </a:p>
        </p:txBody>
      </p:sp>
      <p:sp>
        <p:nvSpPr>
          <p:cNvPr id="15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5E53ACA0-726F-4B7C-8C8A-BF31A31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C02/C04/C06 使用真实外部矢量数据和真实融合算法跑通。</a:t>
            </a:r>
          </a:p>
        </p:txBody>
      </p:sp>
      <p:sp>
        <p:nvSpPr>
          <p:cNvPr id="1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A8D3E088-E525-44F8-957B-2CA9505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36E"/>
          </a:solidFill>
          <a:ln xmlns:a="http://schemas.openxmlformats.org/drawingml/2006/main" w="0">
            <a:solidFill>
              <a:srgbClr val="59636E"/>
            </a:solidFill>
            <a:prstDash val="solid"/>
          </a:ln>
        </p:spPr>
      </p:sp>
      <p:sp>
        <p:nvSpPr>
          <p:cNvPr id="17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86F44AE3-780B-41AE-AAB1-BFFDC111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对照实验</a:t>
            </a:r>
          </a:p>
        </p:txBody>
      </p:sp>
      <p:sp>
        <p:nvSpPr>
          <p:cNvPr id="18" name="timeline-state-3">
            <a:extLst xmlns:a="http://schemas.openxmlformats.org/drawingml/2006/main">
              <a:ext uri="{FF2B5EF4-FFF2-40B4-BE49-F238E27FC236}">
                <a16:creationId xmlns:a16="http://schemas.microsoft.com/office/drawing/2014/main" id="{027F9AC8-F941-4BCD-A32E-2E45272E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待推进</a:t>
            </a:r>
          </a:p>
        </p:txBody>
      </p:sp>
      <p:sp>
        <p:nvSpPr>
          <p:cNvPr id="19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CB7FB285-8446-49B8-9A8F-4DCFDAD8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五类方法的统一运行与系统对比尚未完成</a:t>
            </a:r>
          </a:p>
        </p:txBody>
      </p:sp>
      <p:sp>
        <p:nvSpPr>
          <p:cNvPr id="20" name="progress-conclusion">
            <a:extLst xmlns:a="http://schemas.openxmlformats.org/drawingml/2006/main">
              <a:ext uri="{FF2B5EF4-FFF2-40B4-BE49-F238E27FC236}">
                <a16:creationId xmlns:a16="http://schemas.microsoft.com/office/drawing/2014/main" id="{D9A81196-04B6-4A97-8060-0698757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当前关键任务：把“已经能运行”转化为“能够证明知识图谱设计有效”。</a:t>
            </a:r>
          </a:p>
        </p:txBody>
      </p:sp>
      <p:sp>
        <p:nvSpPr>
          <p:cNvPr id="21" name="footer-3">
            <a:extLst xmlns:a="http://schemas.openxmlformats.org/drawingml/2006/main">
              <a:ext uri="{FF2B5EF4-FFF2-40B4-BE49-F238E27FC236}">
                <a16:creationId xmlns:a16="http://schemas.microsoft.com/office/drawing/2014/main" id="{9FB523C2-13DA-43BA-AA08-CEF264E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51B2CE38-8D6E-45F2-91A2-F82D04C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2657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0EEA2C8D-478E-4889-AAFC-27508670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现有知识图谱已覆盖主要运行能力</a:t>
            </a:r>
          </a:p>
        </p:txBody>
      </p:sp>
      <p:sp>
        <p:nvSpPr>
          <p:cNvPr id="2" name="title-line-4">
            <a:extLst xmlns:a="http://schemas.openxmlformats.org/drawingml/2006/main">
              <a:ext uri="{FF2B5EF4-FFF2-40B4-BE49-F238E27FC236}">
                <a16:creationId xmlns:a16="http://schemas.microsoft.com/office/drawing/2014/main" id="{5D8323F4-447C-4B25-A393-FCABEEF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kg-count-intro">
            <a:extLst xmlns:a="http://schemas.openxmlformats.org/drawingml/2006/main">
              <a:ext uri="{FF2B5EF4-FFF2-40B4-BE49-F238E27FC236}">
                <a16:creationId xmlns:a16="http://schemas.microsoft.com/office/drawing/2014/main" id="{A3CD7FE5-B5B6-4EC6-9269-D2516B3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当前冻结知识清单不是概念草图，已经作为程序检索、规划和校验的实际输入。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1fcd8702ca402b"/>
          </a:graphicData>
        </a:graphic>
      </p:graphicFrame>
      <p:sp>
        <p:nvSpPr>
          <p:cNvPr id="5" name="kg-meaning">
            <a:extLst xmlns:a="http://schemas.openxmlformats.org/drawingml/2006/main">
              <a:ext uri="{FF2B5EF4-FFF2-40B4-BE49-F238E27FC236}">
                <a16:creationId xmlns:a16="http://schemas.microsoft.com/office/drawing/2014/main" id="{2B849D83-2AA4-4D7C-B81F-448E49C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810000" cy="390525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6" name="kg-meaning-title">
            <a:extLst xmlns:a="http://schemas.openxmlformats.org/drawingml/2006/main">
              <a:ext uri="{FF2B5EF4-FFF2-40B4-BE49-F238E27FC236}">
                <a16:creationId xmlns:a16="http://schemas.microsoft.com/office/drawing/2014/main" id="{7D1D0CBC-EB4D-4D35-9FA5-5F0CD30F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已经能够支撑</a:t>
            </a:r>
          </a:p>
        </p:txBody>
      </p:sp>
      <p:sp>
        <p:nvSpPr>
          <p:cNvPr id="7" name="kg-meaning-body">
            <a:extLst xmlns:a="http://schemas.openxmlformats.org/drawingml/2006/main">
              <a:ext uri="{FF2B5EF4-FFF2-40B4-BE49-F238E27FC236}">
                <a16:creationId xmlns:a16="http://schemas.microsoft.com/office/drawing/2014/main" id="{484087AB-75E1-4596-9A24-2E1822B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查询可用算法和数据源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检查算法输入输出是否匹配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提供候选工作流程和参数约束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屏蔽保留、废弃或不可执行能力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为规划和运行生成可追溯路径</a:t>
            </a:r>
          </a:p>
        </p:txBody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8B238E38-2A5F-4237-93DB-CAFE1EAA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F981C125-9858-41DE-A476-C28CD68E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5311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5">
            <a:extLst xmlns:a="http://schemas.openxmlformats.org/drawingml/2006/main">
              <a:ext uri="{FF2B5EF4-FFF2-40B4-BE49-F238E27FC236}">
                <a16:creationId xmlns:a16="http://schemas.microsoft.com/office/drawing/2014/main" id="{892B9EE9-2989-4F18-8DC7-240C629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产品契约已补齐，知识层形成四级闭环</a:t>
            </a:r>
          </a:p>
        </p:txBody>
      </p:sp>
      <p:sp>
        <p:nvSpPr>
          <p:cNvPr id="2" name="title-line-5">
            <a:extLst xmlns:a="http://schemas.openxmlformats.org/drawingml/2006/main">
              <a:ext uri="{FF2B5EF4-FFF2-40B4-BE49-F238E27FC236}">
                <a16:creationId xmlns:a16="http://schemas.microsoft.com/office/drawing/2014/main" id="{27D3E73B-6EEA-466F-8E79-02DBD5A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58074527-8C53-45E0-AE8E-3E50066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425501B5-B37F-4DA9-AED5-BE238998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7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灾害场景与资源处境</a:t>
            </a:r>
          </a:p>
        </p:txBody>
      </p:sp>
      <p:sp>
        <p:nvSpPr>
          <p:cNvPr id="5" name="layer-desc-0">
            <a:extLst xmlns:a="http://schemas.openxmlformats.org/drawingml/2006/main">
              <a:ext uri="{FF2B5EF4-FFF2-40B4-BE49-F238E27FC236}">
                <a16:creationId xmlns:a16="http://schemas.microsoft.com/office/drawing/2014/main" id="{887DD8DE-C057-4EFF-88D6-489A6E6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灾种、响应阶段、区域、时间窗与资源约束</a:t>
            </a:r>
          </a:p>
        </p:txBody>
      </p:sp>
      <p:sp>
        <p:nvSpPr>
          <p:cNvPr id="6" name="layer-status-0">
            <a:extLst xmlns:a="http://schemas.openxmlformats.org/drawingml/2006/main">
              <a:ext uri="{FF2B5EF4-FFF2-40B4-BE49-F238E27FC236}">
                <a16:creationId xmlns:a16="http://schemas.microsoft.com/office/drawing/2014/main" id="{3C58C29B-2BC0-402D-B352-4384800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上层语境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E8B39879-CFF0-4BF9-B871-4CB8EE4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8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104BED68-4B13-4A04-B7B1-89768668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产品契约与产品组成</a:t>
            </a:r>
          </a:p>
        </p:txBody>
      </p:sp>
      <p:sp>
        <p:nvSpPr>
          <p:cNvPr id="9" name="layer-desc-1">
            <a:extLst xmlns:a="http://schemas.openxmlformats.org/drawingml/2006/main">
              <a:ext uri="{FF2B5EF4-FFF2-40B4-BE49-F238E27FC236}">
                <a16:creationId xmlns:a16="http://schemas.microsoft.com/office/drawing/2014/main" id="{F4DA0E21-CB2B-4FF0-860F-FA55AAF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1 个组合契约 + 5 个图层契约，统一质量门与交付</a:t>
            </a:r>
          </a:p>
        </p:txBody>
      </p:sp>
      <p:sp>
        <p:nvSpPr>
          <p:cNvPr id="10" name="layer-status-1">
            <a:extLst xmlns:a="http://schemas.openxmlformats.org/drawingml/2006/main">
              <a:ext uri="{FF2B5EF4-FFF2-40B4-BE49-F238E27FC236}">
                <a16:creationId xmlns:a16="http://schemas.microsoft.com/office/drawing/2014/main" id="{DF58803D-24EC-4123-8912-409FF4C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已实体化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605095DA-783F-4BC8-BD97-58F398D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FF0E6"/>
            </a:solidFill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DF976530-D030-496D-AD98-F19384E8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9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数据、算法与任务能力</a:t>
            </a:r>
          </a:p>
        </p:txBody>
      </p:sp>
      <p:sp>
        <p:nvSpPr>
          <p:cNvPr id="13" name="layer-desc-2">
            <a:extLst xmlns:a="http://schemas.openxmlformats.org/drawingml/2006/main">
              <a:ext uri="{FF2B5EF4-FFF2-40B4-BE49-F238E27FC236}">
                <a16:creationId xmlns:a16="http://schemas.microsoft.com/office/drawing/2014/main" id="{0D28664D-3A40-47E2-8F7B-8515D5B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数据源、数据集、算法、任务与输出要求</a:t>
            </a:r>
          </a:p>
        </p:txBody>
      </p:sp>
      <p:sp>
        <p:nvSpPr>
          <p:cNvPr id="14" name="layer-status-2">
            <a:extLst xmlns:a="http://schemas.openxmlformats.org/drawingml/2006/main">
              <a:ext uri="{FF2B5EF4-FFF2-40B4-BE49-F238E27FC236}">
                <a16:creationId xmlns:a16="http://schemas.microsoft.com/office/drawing/2014/main" id="{37A11A60-3293-4BC6-BCDF-825E0D1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能力支撑</a:t>
            </a:r>
          </a:p>
        </p:txBody>
      </p:sp>
      <p:sp>
        <p:nvSpPr>
          <p:cNvPr id="15" name="layer-3">
            <a:extLst xmlns:a="http://schemas.openxmlformats.org/drawingml/2006/main">
              <a:ext uri="{FF2B5EF4-FFF2-40B4-BE49-F238E27FC236}">
                <a16:creationId xmlns:a16="http://schemas.microsoft.com/office/drawing/2014/main" id="{6F40560E-47B7-448E-867C-E6D21346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6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67402F7A-A31F-4BD6-BDC6-CFC156A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9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验收、修复与运行证据</a:t>
            </a:r>
          </a:p>
        </p:txBody>
      </p:sp>
      <p:sp>
        <p:nvSpPr>
          <p:cNvPr id="17" name="layer-desc-3">
            <a:extLst xmlns:a="http://schemas.openxmlformats.org/drawingml/2006/main">
              <a:ext uri="{FF2B5EF4-FFF2-40B4-BE49-F238E27FC236}">
                <a16:creationId xmlns:a16="http://schemas.microsoft.com/office/drawing/2014/main" id="{B847154F-1817-450E-81AC-5435E2F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QoS 策略、修复策略、执行结果、来源与替代链</a:t>
            </a:r>
          </a:p>
        </p:txBody>
      </p:sp>
      <p:sp>
        <p:nvSpPr>
          <p:cNvPr id="18" name="layer-status-3">
            <a:extLst xmlns:a="http://schemas.openxmlformats.org/drawingml/2006/main">
              <a:ext uri="{FF2B5EF4-FFF2-40B4-BE49-F238E27FC236}">
                <a16:creationId xmlns:a16="http://schemas.microsoft.com/office/drawing/2014/main" id="{9FD267EA-B687-41E1-BE91-A2F08251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闭环可审计</a:t>
            </a:r>
          </a:p>
        </p:txBody>
      </p:sp>
      <p:sp>
        <p:nvSpPr>
          <p:cNvPr id="19" name="layer-principle">
            <a:extLst xmlns:a="http://schemas.openxmlformats.org/drawingml/2006/main">
              <a:ext uri="{FF2B5EF4-FFF2-40B4-BE49-F238E27FC236}">
                <a16:creationId xmlns:a16="http://schemas.microsoft.com/office/drawing/2014/main" id="{C3FBC23D-EA1B-44A7-A7B9-E696EB3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当前已形成 6 个 ProductContract 实体：1 个组合契约 + 5 个图层契约。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4F5ABE77-DF45-45EA-8209-E07FD16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1" name="page-5">
            <a:extLst xmlns:a="http://schemas.openxmlformats.org/drawingml/2006/main">
              <a:ext uri="{FF2B5EF4-FFF2-40B4-BE49-F238E27FC236}">
                <a16:creationId xmlns:a16="http://schemas.microsoft.com/office/drawing/2014/main" id="{31231E9E-A513-434D-8890-4A04AB2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6022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07B8C4F4-F63F-4C9D-B1C1-B32EA33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知识图谱本体层全景</a:t>
            </a:r>
          </a:p>
        </p:txBody>
      </p:sp>
      <p:sp>
        <p:nvSpPr>
          <p:cNvPr id="2" name="title-line-6">
            <a:extLst xmlns:a="http://schemas.openxmlformats.org/drawingml/2006/main">
              <a:ext uri="{FF2B5EF4-FFF2-40B4-BE49-F238E27FC236}">
                <a16:creationId xmlns:a16="http://schemas.microsoft.com/office/drawing/2014/main" id="{12E5A938-209F-4B45-9C0A-00733357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oop-node-0">
            <a:extLst xmlns:a="http://schemas.openxmlformats.org/drawingml/2006/main">
              <a:ext uri="{FF2B5EF4-FFF2-40B4-BE49-F238E27FC236}">
                <a16:creationId xmlns:a16="http://schemas.microsoft.com/office/drawing/2014/main" id="{F7601BB8-11BA-4388-81BA-9C02166A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4763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loop-node-1">
            <a:extLst xmlns:a="http://schemas.openxmlformats.org/drawingml/2006/main">
              <a:ext uri="{FF2B5EF4-FFF2-40B4-BE49-F238E27FC236}">
                <a16:creationId xmlns:a16="http://schemas.microsoft.com/office/drawing/2014/main" id="{0F57A43F-E0C4-4C66-8E6E-FD137B9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loop-node-2">
            <a:extLst xmlns:a="http://schemas.openxmlformats.org/drawingml/2006/main">
              <a:ext uri="{FF2B5EF4-FFF2-40B4-BE49-F238E27FC236}">
                <a16:creationId xmlns:a16="http://schemas.microsoft.com/office/drawing/2014/main" id="{9BE7D5AF-D8A8-4E1B-BF73-FAB7414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D95D0B"/>
            </a:solidFill>
            <a:prstDash val="solid"/>
          </a:ln>
        </p:spPr>
      </p:sp>
      <p:sp>
        <p:nvSpPr>
          <p:cNvPr id="6" name="loop-node-3">
            <a:extLst xmlns:a="http://schemas.openxmlformats.org/drawingml/2006/main">
              <a:ext uri="{FF2B5EF4-FFF2-40B4-BE49-F238E27FC236}">
                <a16:creationId xmlns:a16="http://schemas.microsoft.com/office/drawing/2014/main" id="{D8FAB6A2-8345-4876-9439-274398F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7" name="loop-node-4">
            <a:extLst xmlns:a="http://schemas.openxmlformats.org/drawingml/2006/main">
              <a:ext uri="{FF2B5EF4-FFF2-40B4-BE49-F238E27FC236}">
                <a16:creationId xmlns:a16="http://schemas.microsoft.com/office/drawing/2014/main" id="{D746BEE3-87AF-44D7-97BA-3F69EEF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loop-node-5">
            <a:extLst xmlns:a="http://schemas.openxmlformats.org/drawingml/2006/main">
              <a:ext uri="{FF2B5EF4-FFF2-40B4-BE49-F238E27FC236}">
                <a16:creationId xmlns:a16="http://schemas.microsoft.com/office/drawing/2014/main" id="{422A7FE4-5F3D-49B2-A865-49DD296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1238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43125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9100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38875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34625" y="2619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sp>
        <p:nvSpPr>
          <p:cNvPr id="14" name="loop-label-0">
            <a:extLst xmlns:a="http://schemas.openxmlformats.org/drawingml/2006/main">
              <a:ext uri="{FF2B5EF4-FFF2-40B4-BE49-F238E27FC236}">
                <a16:creationId xmlns:a16="http://schemas.microsoft.com/office/drawing/2014/main" id="{96AC513B-683E-4979-B9D5-C6BEEBC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323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场景处境</a:t>
            </a:r>
          </a:p>
        </p:txBody>
      </p:sp>
      <p:sp>
        <p:nvSpPr>
          <p:cNvPr id="15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72C92791-9FCF-40DE-A476-1130ECA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产品契约</a:t>
            </a:r>
          </a:p>
        </p:txBody>
      </p:sp>
      <p:sp>
        <p:nvSpPr>
          <p:cNvPr id="16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449535D9-E159-4C12-B318-BA2BAC4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任务与要求</a:t>
            </a:r>
          </a:p>
        </p:txBody>
      </p:sp>
      <p:sp>
        <p:nvSpPr>
          <p:cNvPr id="17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60660AB1-D7C8-4E91-9C8A-344234A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数据与算法</a:t>
            </a:r>
          </a:p>
        </p:txBody>
      </p:sp>
      <p:sp>
        <p:nvSpPr>
          <p:cNvPr id="18" name="loop-label-4">
            <a:extLst xmlns:a="http://schemas.openxmlformats.org/drawingml/2006/main">
              <a:ext uri="{FF2B5EF4-FFF2-40B4-BE49-F238E27FC236}">
                <a16:creationId xmlns:a16="http://schemas.microsoft.com/office/drawing/2014/main" id="{D5FA1ED6-31E9-4298-B339-A489DC6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规划与执行</a:t>
            </a:r>
          </a:p>
        </p:txBody>
      </p:sp>
      <p:sp>
        <p:nvSpPr>
          <p:cNvPr id="19" name="loop-label-5">
            <a:extLst xmlns:a="http://schemas.openxmlformats.org/drawingml/2006/main">
              <a:ext uri="{FF2B5EF4-FFF2-40B4-BE49-F238E27FC236}">
                <a16:creationId xmlns:a16="http://schemas.microsoft.com/office/drawing/2014/main" id="{0A8944BC-9CEE-4131-AC8D-9A819A6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098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质量证据</a:t>
            </a:r>
          </a:p>
        </p:txBody>
      </p:sp>
      <p:sp>
        <p:nvSpPr>
          <p:cNvPr id="20" name="loop-done">
            <a:extLst xmlns:a="http://schemas.openxmlformats.org/drawingml/2006/main">
              <a:ext uri="{FF2B5EF4-FFF2-40B4-BE49-F238E27FC236}">
                <a16:creationId xmlns:a16="http://schemas.microsoft.com/office/drawing/2014/main" id="{AA7EC712-8466-4D3F-8468-F5BD89F1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62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EAF6EE"/>
            </a:solidFill>
            <a:prstDash val="solid"/>
          </a:ln>
        </p:spPr>
      </p:sp>
      <p:sp>
        <p:nvSpPr>
          <p:cNvPr id="21" name="loop-done-title">
            <a:extLst xmlns:a="http://schemas.openxmlformats.org/drawingml/2006/main">
              <a:ext uri="{FF2B5EF4-FFF2-40B4-BE49-F238E27FC236}">
                <a16:creationId xmlns:a16="http://schemas.microsoft.com/office/drawing/2014/main" id="{AF8B616E-434D-4A12-9CE8-64F1EE64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78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864A"/>
                </a:solidFill>
                <a:latin typeface="Microsoft YaHei"/>
                <a:ea typeface="Microsoft YaHei"/>
                <a:cs typeface="Microsoft YaHei"/>
              </a:rPr>
              <a:t>本体实体</a:t>
            </a:r>
          </a:p>
        </p:txBody>
      </p:sp>
      <p:sp>
        <p:nvSpPr>
          <p:cNvPr id="22" name="loop-done-body">
            <a:extLst xmlns:a="http://schemas.openxmlformats.org/drawingml/2006/main">
              <a:ext uri="{FF2B5EF4-FFF2-40B4-BE49-F238E27FC236}">
                <a16:creationId xmlns:a16="http://schemas.microsoft.com/office/drawing/2014/main" id="{83F348B8-0B44-48E9-B48F-BED1190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场景、产品契约、任务、输出要求、数据集、算法、质量策略、修复策略与执行证据。</a:t>
            </a:r>
          </a:p>
        </p:txBody>
      </p:sp>
      <p:sp>
        <p:nvSpPr>
          <p:cNvPr id="23" name="loop-gap">
            <a:extLst xmlns:a="http://schemas.openxmlformats.org/drawingml/2006/main">
              <a:ext uri="{FF2B5EF4-FFF2-40B4-BE49-F238E27FC236}">
                <a16:creationId xmlns:a16="http://schemas.microsoft.com/office/drawing/2014/main" id="{16D6B0D4-99AB-47E4-B9E6-607203C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57625"/>
            <a:ext cx="4762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4" name="loop-gap-title">
            <a:extLst xmlns:a="http://schemas.openxmlformats.org/drawingml/2006/main">
              <a:ext uri="{FF2B5EF4-FFF2-40B4-BE49-F238E27FC236}">
                <a16:creationId xmlns:a16="http://schemas.microsoft.com/office/drawing/2014/main" id="{CF6A7469-2FE1-4F27-A205-1B2503A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跨层关系</a:t>
            </a:r>
          </a:p>
        </p:txBody>
      </p:sp>
      <p:sp>
        <p:nvSpPr>
          <p:cNvPr id="25" name="loop-gap-body">
            <a:extLst xmlns:a="http://schemas.openxmlformats.org/drawingml/2006/main">
              <a:ext uri="{FF2B5EF4-FFF2-40B4-BE49-F238E27FC236}">
                <a16:creationId xmlns:a16="http://schemas.microsoft.com/office/drawing/2014/main" id="{FC1AF113-6B55-4D7F-BD58-1DE40DC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契约可沿适用场景、编排器、任务、输出要求、QoS、修复与产品组成关系跨层遍历。</a:t>
            </a:r>
          </a:p>
        </p:txBody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2F70C23D-935A-43FE-B388-15F09E7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7" name="page-6">
            <a:extLst xmlns:a="http://schemas.openxmlformats.org/drawingml/2006/main">
              <a:ext uri="{FF2B5EF4-FFF2-40B4-BE49-F238E27FC236}">
                <a16:creationId xmlns:a16="http://schemas.microsoft.com/office/drawing/2014/main" id="{311C6B40-D1D5-43F9-9D8B-4DFD05E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26542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6A0F9CF7-1FA6-42D1-B7F6-2781B19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产品契约已成为可消费的本体实体</a:t>
            </a:r>
          </a:p>
        </p:txBody>
      </p:sp>
      <p:sp>
        <p:nvSpPr>
          <p:cNvPr id="2" name="title-line-7">
            <a:extLst xmlns:a="http://schemas.openxmlformats.org/drawingml/2006/main">
              <a:ext uri="{FF2B5EF4-FFF2-40B4-BE49-F238E27FC236}">
                <a16:creationId xmlns:a16="http://schemas.microsoft.com/office/drawing/2014/main" id="{55DAF70F-432C-4EEC-8ACF-22F7D51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cap-top-0">
            <a:extLst xmlns:a="http://schemas.openxmlformats.org/drawingml/2006/main">
              <a:ext uri="{FF2B5EF4-FFF2-40B4-BE49-F238E27FC236}">
                <a16:creationId xmlns:a16="http://schemas.microsoft.com/office/drawing/2014/main" id="{C0449278-A2A3-4DE3-9038-41C3BCF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ap-title-0">
            <a:extLst xmlns:a="http://schemas.openxmlformats.org/drawingml/2006/main">
              <a:ext uri="{FF2B5EF4-FFF2-40B4-BE49-F238E27FC236}">
                <a16:creationId xmlns:a16="http://schemas.microsoft.com/office/drawing/2014/main" id="{1E59345D-D842-41D4-AD00-2261F117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节点属性</a:t>
            </a:r>
          </a:p>
        </p:txBody>
      </p:sp>
      <p:sp>
        <p:nvSpPr>
          <p:cNvPr id="5" name="cap-body-0">
            <a:extLst xmlns:a="http://schemas.openxmlformats.org/drawingml/2006/main">
              <a:ext uri="{FF2B5EF4-FFF2-40B4-BE49-F238E27FC236}">
                <a16:creationId xmlns:a16="http://schemas.microsoft.com/office/drawing/2014/main" id="{1F899199-47F3-4810-AA6F-E72C9B3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灾种、响应阶段与图层要求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质量门与满足状态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证据、降级、缺口与交付策略</a:t>
            </a:r>
          </a:p>
        </p:txBody>
      </p:sp>
      <p:sp>
        <p:nvSpPr>
          <p:cNvPr id="6" name="cap-top-1">
            <a:extLst xmlns:a="http://schemas.openxmlformats.org/drawingml/2006/main">
              <a:ext uri="{FF2B5EF4-FFF2-40B4-BE49-F238E27FC236}">
                <a16:creationId xmlns:a16="http://schemas.microsoft.com/office/drawing/2014/main" id="{E531FDFF-F78F-4B2D-9831-22B12F3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cap-title-1">
            <a:extLst xmlns:a="http://schemas.openxmlformats.org/drawingml/2006/main">
              <a:ext uri="{FF2B5EF4-FFF2-40B4-BE49-F238E27FC236}">
                <a16:creationId xmlns:a16="http://schemas.microsoft.com/office/drawing/2014/main" id="{046A1096-65B9-4E08-AAEE-B626C4F7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跨层关系</a:t>
            </a:r>
          </a:p>
        </p:txBody>
      </p:sp>
      <p:sp>
        <p:nvSpPr>
          <p:cNvPr id="8" name="cap-body-1">
            <a:extLst xmlns:a="http://schemas.openxmlformats.org/drawingml/2006/main">
              <a:ext uri="{FF2B5EF4-FFF2-40B4-BE49-F238E27FC236}">
                <a16:creationId xmlns:a16="http://schemas.microsoft.com/office/drawing/2014/main" id="{950175A3-7169-44AB-ABBF-1241ECB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适用场景与编排器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所需任务与输出要求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QoS、修复与 COMPOSED_OF 组成关系</a:t>
            </a:r>
          </a:p>
        </p:txBody>
      </p:sp>
      <p:sp>
        <p:nvSpPr>
          <p:cNvPr id="9" name="cap-top-2">
            <a:extLst xmlns:a="http://schemas.openxmlformats.org/drawingml/2006/main">
              <a:ext uri="{FF2B5EF4-FFF2-40B4-BE49-F238E27FC236}">
                <a16:creationId xmlns:a16="http://schemas.microsoft.com/office/drawing/2014/main" id="{84ACF269-7E89-4190-9384-3191F07D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0" name="cap-title-2">
            <a:extLst xmlns:a="http://schemas.openxmlformats.org/drawingml/2006/main">
              <a:ext uri="{FF2B5EF4-FFF2-40B4-BE49-F238E27FC236}">
                <a16:creationId xmlns:a16="http://schemas.microsoft.com/office/drawing/2014/main" id="{B3B69799-45D5-4675-BEC4-72AFF32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运行消费</a:t>
            </a:r>
          </a:p>
        </p:txBody>
      </p:sp>
      <p:sp>
        <p:nvSpPr>
          <p:cNvPr id="11" name="cap-body-2">
            <a:extLst xmlns:a="http://schemas.openxmlformats.org/drawingml/2006/main">
              <a:ext uri="{FF2B5EF4-FFF2-40B4-BE49-F238E27FC236}">
                <a16:creationId xmlns:a16="http://schemas.microsoft.com/office/drawing/2014/main" id="{ACA233A5-F974-4AE3-800E-0312327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检索上下文直接返回契约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规划结果绑定契约实体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图谱服务支持浏览审计</a:t>
            </a:r>
          </a:p>
        </p:txBody>
      </p:sp>
      <p:sp>
        <p:nvSpPr>
          <p:cNvPr id="12" name="cap-result">
            <a:extLst xmlns:a="http://schemas.openxmlformats.org/drawingml/2006/main">
              <a:ext uri="{FF2B5EF4-FFF2-40B4-BE49-F238E27FC236}">
                <a16:creationId xmlns:a16="http://schemas.microsoft.com/office/drawing/2014/main" id="{085ED6CA-A32F-47B4-9594-B87841C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ProductContract 已成为可检索、可选择、可遍历、可审计的图谱实体。</a:t>
            </a:r>
          </a:p>
        </p:txBody>
      </p:sp>
      <p:sp>
        <p:nvSpPr>
          <p:cNvPr id="13" name="footer-7">
            <a:extLst xmlns:a="http://schemas.openxmlformats.org/drawingml/2006/main">
              <a:ext uri="{FF2B5EF4-FFF2-40B4-BE49-F238E27FC236}">
                <a16:creationId xmlns:a16="http://schemas.microsoft.com/office/drawing/2014/main" id="{870F9BC2-D784-42C6-BF80-76DD0A5F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7">
            <a:extLst xmlns:a="http://schemas.openxmlformats.org/drawingml/2006/main">
              <a:ext uri="{FF2B5EF4-FFF2-40B4-BE49-F238E27FC236}">
                <a16:creationId xmlns:a16="http://schemas.microsoft.com/office/drawing/2014/main" id="{5C4CA522-192D-4CB0-983C-C818917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0261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F45EE40C-A46A-4CC8-A2C1-6B6BFFE8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三个真实数据案例验证了契约执行机制</a:t>
            </a:r>
          </a:p>
        </p:txBody>
      </p:sp>
      <p:sp>
        <p:nvSpPr>
          <p:cNvPr id="2" name="title-line-8">
            <a:extLst xmlns:a="http://schemas.openxmlformats.org/drawingml/2006/main">
              <a:ext uri="{FF2B5EF4-FFF2-40B4-BE49-F238E27FC236}">
                <a16:creationId xmlns:a16="http://schemas.microsoft.com/office/drawing/2014/main" id="{EC7EA2B0-2D82-41E0-B81C-21B5490D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case-id-C02">
            <a:extLst xmlns:a="http://schemas.openxmlformats.org/drawingml/2006/main">
              <a:ext uri="{FF2B5EF4-FFF2-40B4-BE49-F238E27FC236}">
                <a16:creationId xmlns:a16="http://schemas.microsoft.com/office/drawing/2014/main" id="{F0293A36-557C-4D63-A45A-93728D0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C02</a:t>
            </a:r>
          </a:p>
        </p:txBody>
      </p:sp>
      <p:sp>
        <p:nvSpPr>
          <p:cNvPr id="4" name="case-title-C02">
            <a:extLst xmlns:a="http://schemas.openxmlformats.org/drawingml/2006/main">
              <a:ext uri="{FF2B5EF4-FFF2-40B4-BE49-F238E27FC236}">
                <a16:creationId xmlns:a16="http://schemas.microsoft.com/office/drawing/2014/main" id="{CAA87FCA-B205-440F-A115-51621E4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洪水优先级</a:t>
            </a:r>
          </a:p>
        </p:txBody>
      </p:sp>
      <p:sp>
        <p:nvSpPr>
          <p:cNvPr id="5" name="case-body-C02">
            <a:extLst xmlns:a="http://schemas.openxmlformats.org/drawingml/2006/main">
              <a:ext uri="{FF2B5EF4-FFF2-40B4-BE49-F238E27FC236}">
                <a16:creationId xmlns:a16="http://schemas.microsoft.com/office/drawing/2014/main" id="{479A1188-5BD0-4A6D-A95F-E61B401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水体、水系和道路优先；建筑明确延期，并保留缺口证据。</a:t>
            </a:r>
          </a:p>
        </p:txBody>
      </p:sp>
      <p:sp>
        <p:nvSpPr>
          <p:cNvPr id="6" name="case-id-C04">
            <a:extLst xmlns:a="http://schemas.openxmlformats.org/drawingml/2006/main">
              <a:ext uri="{FF2B5EF4-FFF2-40B4-BE49-F238E27FC236}">
                <a16:creationId xmlns:a16="http://schemas.microsoft.com/office/drawing/2014/main" id="{7C563C2A-6820-4668-9DD0-CDDF93E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C04</a:t>
            </a:r>
          </a:p>
        </p:txBody>
      </p:sp>
      <p:sp>
        <p:nvSpPr>
          <p:cNvPr id="7" name="case-title-C04">
            <a:extLst xmlns:a="http://schemas.openxmlformats.org/drawingml/2006/main">
              <a:ext uri="{FF2B5EF4-FFF2-40B4-BE49-F238E27FC236}">
                <a16:creationId xmlns:a16="http://schemas.microsoft.com/office/drawing/2014/main" id="{4B88333F-4033-4321-8B8C-478FFF7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渐进式交付</a:t>
            </a:r>
          </a:p>
        </p:txBody>
      </p:sp>
      <p:sp>
        <p:nvSpPr>
          <p:cNvPr id="8" name="case-body-C04">
            <a:extLst xmlns:a="http://schemas.openxmlformats.org/drawingml/2006/main">
              <a:ext uri="{FF2B5EF4-FFF2-40B4-BE49-F238E27FC236}">
                <a16:creationId xmlns:a16="http://schemas.microsoft.com/office/drawing/2014/main" id="{8EDC7F58-4C72-4161-BDC8-3C2406C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先生成临时水体产品；参考数据到达后生成最终结果并记录替代关系。</a:t>
            </a:r>
          </a:p>
        </p:txBody>
      </p:sp>
      <p:sp>
        <p:nvSpPr>
          <p:cNvPr id="9" name="case-id-C06">
            <a:extLst xmlns:a="http://schemas.openxmlformats.org/drawingml/2006/main">
              <a:ext uri="{FF2B5EF4-FFF2-40B4-BE49-F238E27FC236}">
                <a16:creationId xmlns:a16="http://schemas.microsoft.com/office/drawing/2014/main" id="{1FD5B367-CCB9-46FC-90D4-98EF301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C06</a:t>
            </a:r>
          </a:p>
        </p:txBody>
      </p:sp>
      <p:sp>
        <p:nvSpPr>
          <p:cNvPr id="10" name="case-title-C06">
            <a:extLst xmlns:a="http://schemas.openxmlformats.org/drawingml/2006/main">
              <a:ext uri="{FF2B5EF4-FFF2-40B4-BE49-F238E27FC236}">
                <a16:creationId xmlns:a16="http://schemas.microsoft.com/office/drawing/2014/main" id="{E3C7F8AC-FD74-4A92-B729-ECF1E0D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质量失败恢复</a:t>
            </a:r>
          </a:p>
        </p:txBody>
      </p:sp>
      <p:sp>
        <p:nvSpPr>
          <p:cNvPr id="11" name="case-body-C06">
            <a:extLst xmlns:a="http://schemas.openxmlformats.org/drawingml/2006/main">
              <a:ext uri="{FF2B5EF4-FFF2-40B4-BE49-F238E27FC236}">
                <a16:creationId xmlns:a16="http://schemas.microsoft.com/office/drawing/2014/main" id="{22B9633E-222D-4273-AA5B-0094694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双源道路融合未通过质量门；保留失败证据后，单源降级恢复成功。</a:t>
            </a:r>
          </a:p>
        </p:txBody>
      </p:sp>
      <p:sp>
        <p:nvSpPr>
          <p:cNvPr id="12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B6571AD0-71EC-4E2C-A6B4-170953D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实验边界：真实数据与真实融合算法；规划决策来自声明式案例配置，尚不是完整契约知识图谱自动推理结果。</a:t>
            </a:r>
          </a:p>
        </p:txBody>
      </p:sp>
      <p:sp>
        <p:nvSpPr>
          <p:cNvPr id="13" name="footer-8">
            <a:extLst xmlns:a="http://schemas.openxmlformats.org/drawingml/2006/main">
              <a:ext uri="{FF2B5EF4-FFF2-40B4-BE49-F238E27FC236}">
                <a16:creationId xmlns:a16="http://schemas.microsoft.com/office/drawing/2014/main" id="{B5B929FC-4209-4543-874D-93AFFD7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70D97423-53E6-4E81-ACCF-023EC269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6342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9">
            <a:extLst xmlns:a="http://schemas.openxmlformats.org/drawingml/2006/main">
              <a:ext uri="{FF2B5EF4-FFF2-40B4-BE49-F238E27FC236}">
                <a16:creationId xmlns:a16="http://schemas.microsoft.com/office/drawing/2014/main" id="{C28472D1-0F47-44D2-86A5-A3FBD08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Freeze C 已达到可正式引用的复现基线</a:t>
            </a:r>
          </a:p>
        </p:txBody>
      </p:sp>
      <p:sp>
        <p:nvSpPr>
          <p:cNvPr id="2" name="title-line-9">
            <a:extLst xmlns:a="http://schemas.openxmlformats.org/drawingml/2006/main">
              <a:ext uri="{FF2B5EF4-FFF2-40B4-BE49-F238E27FC236}">
                <a16:creationId xmlns:a16="http://schemas.microsoft.com/office/drawing/2014/main" id="{BFB56FED-0540-4798-9673-3DFCE9B9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freeze-intro">
            <a:extLst xmlns:a="http://schemas.openxmlformats.org/drawingml/2006/main">
              <a:ext uri="{FF2B5EF4-FFF2-40B4-BE49-F238E27FC236}">
                <a16:creationId xmlns:a16="http://schemas.microsoft.com/office/drawing/2014/main" id="{309FF91F-80F2-422B-ACCF-3D0CF31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最终证据来自干净、已提交的代码版本，并同时冻结数据、输出和运行环境。</a:t>
            </a:r>
          </a:p>
        </p:txBody>
      </p:sp>
      <p:sp>
        <p:nvSpPr>
          <p:cNvPr id="4" name="metric-回归测试通过">
            <a:extLst xmlns:a="http://schemas.openxmlformats.org/drawingml/2006/main">
              <a:ext uri="{FF2B5EF4-FFF2-40B4-BE49-F238E27FC236}">
                <a16:creationId xmlns:a16="http://schemas.microsoft.com/office/drawing/2014/main" id="{379A11EE-FB42-488E-BC67-95F98CE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" name="metric-value-回归测试通过">
            <a:extLst xmlns:a="http://schemas.openxmlformats.org/drawingml/2006/main">
              <a:ext uri="{FF2B5EF4-FFF2-40B4-BE49-F238E27FC236}">
                <a16:creationId xmlns:a16="http://schemas.microsoft.com/office/drawing/2014/main" id="{9976A942-E373-4400-835A-9776C9B1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320</a:t>
            </a:r>
          </a:p>
        </p:txBody>
      </p:sp>
      <p:sp>
        <p:nvSpPr>
          <p:cNvPr id="6" name="metric-label-回归测试通过">
            <a:extLst xmlns:a="http://schemas.openxmlformats.org/drawingml/2006/main">
              <a:ext uri="{FF2B5EF4-FFF2-40B4-BE49-F238E27FC236}">
                <a16:creationId xmlns:a16="http://schemas.microsoft.com/office/drawing/2014/main" id="{5BC16240-7327-43BA-B717-FE295F5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回归测试通过</a:t>
            </a:r>
          </a:p>
        </p:txBody>
      </p:sp>
      <p:sp>
        <p:nvSpPr>
          <p:cNvPr id="7" name="metric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FAAA0E4A-4130-4446-8C0B-C85806A9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8" name="metric-value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122EE639-D2C3-4CD9-89E1-73BF41D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638</a:t>
            </a:r>
          </a:p>
        </p:txBody>
      </p:sp>
      <p:sp>
        <p:nvSpPr>
          <p:cNvPr id="9" name="metric-label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C33CAB4B-A03D-4C18-B193-33F6F373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输出文件完成哈希验证</a:t>
            </a:r>
          </a:p>
        </p:txBody>
      </p:sp>
      <p:sp>
        <p:nvSpPr>
          <p:cNvPr id="10" name="metric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BF67C0FD-AFAB-47A5-B6D5-A961A51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FF0E6"/>
            </a:solidFill>
            <a:prstDash val="solid"/>
          </a:ln>
        </p:spPr>
      </p:sp>
      <p:sp>
        <p:nvSpPr>
          <p:cNvPr id="11" name="metric-value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E55DD709-C14D-4610-A669-D00CA78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2" name="metric-label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B4C12239-E243-474F-84E7-69BC932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外部输入完成版本冻结</a:t>
            </a:r>
          </a:p>
        </p:txBody>
      </p:sp>
      <p:sp>
        <p:nvSpPr>
          <p:cNvPr id="13" name="freeze-details">
            <a:extLst xmlns:a="http://schemas.openxmlformats.org/drawingml/2006/main">
              <a:ext uri="{FF2B5EF4-FFF2-40B4-BE49-F238E27FC236}">
                <a16:creationId xmlns:a16="http://schemas.microsoft.com/office/drawing/2014/main" id="{0249202B-D595-45EA-8009-53F16AA2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10096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代码版本：93ebdc5   |   工作树状态：干净   |   结果：全部案例通过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环境：Python 3.12.9 · GDAL 3.9.1 · PROJ 9.5.1 · Windows 11</a:t>
            </a:r>
          </a:p>
        </p:txBody>
      </p:sp>
      <p:sp>
        <p:nvSpPr>
          <p:cNvPr id="14" name="freeze-meaning">
            <a:extLst xmlns:a="http://schemas.openxmlformats.org/drawingml/2006/main">
              <a:ext uri="{FF2B5EF4-FFF2-40B4-BE49-F238E27FC236}">
                <a16:creationId xmlns:a16="http://schemas.microsoft.com/office/drawing/2014/main" id="{93A762C4-6C9F-4F38-9F08-C5CBF60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意义：当前证据可以准确追溯到运行代码，但它仍主要证明系统机制成立，而不是知识图谱优于基线。</a:t>
            </a:r>
          </a:p>
        </p:txBody>
      </p: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1F06AF7B-6585-423A-B027-08A4D2C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0C3C611D-C99B-43EE-A3D9-B39E6626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4162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10">
            <a:extLst xmlns:a="http://schemas.openxmlformats.org/drawingml/2006/main">
              <a:ext uri="{FF2B5EF4-FFF2-40B4-BE49-F238E27FC236}">
                <a16:creationId xmlns:a16="http://schemas.microsoft.com/office/drawing/2014/main" id="{2C9A0DA6-1482-41B6-BB48-BC10D24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产品契约实体已补齐，核心缺口转向规划与验证</a:t>
            </a:r>
          </a:p>
        </p:txBody>
      </p:sp>
      <p:sp>
        <p:nvSpPr>
          <p:cNvPr id="2" name="title-line-10">
            <a:extLst xmlns:a="http://schemas.openxmlformats.org/drawingml/2006/main">
              <a:ext uri="{FF2B5EF4-FFF2-40B4-BE49-F238E27FC236}">
                <a16:creationId xmlns:a16="http://schemas.microsoft.com/office/drawing/2014/main" id="{FDE87059-6586-4DCB-A52F-B745014C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gap-num-0">
            <a:extLst xmlns:a="http://schemas.openxmlformats.org/drawingml/2006/main">
              <a:ext uri="{FF2B5EF4-FFF2-40B4-BE49-F238E27FC236}">
                <a16:creationId xmlns:a16="http://schemas.microsoft.com/office/drawing/2014/main" id="{49089C85-D7A9-421F-951D-9C166D9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gap-title-0">
            <a:extLst xmlns:a="http://schemas.openxmlformats.org/drawingml/2006/main">
              <a:ext uri="{FF2B5EF4-FFF2-40B4-BE49-F238E27FC236}">
                <a16:creationId xmlns:a16="http://schemas.microsoft.com/office/drawing/2014/main" id="{5F1239F9-E85E-427F-8CF9-663D07D1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产品契约本体闭环已完成</a:t>
            </a:r>
          </a:p>
        </p:txBody>
      </p:sp>
      <p:sp>
        <p:nvSpPr>
          <p:cNvPr id="5" name="gap-body-0">
            <a:extLst xmlns:a="http://schemas.openxmlformats.org/drawingml/2006/main">
              <a:ext uri="{FF2B5EF4-FFF2-40B4-BE49-F238E27FC236}">
                <a16:creationId xmlns:a16="http://schemas.microsoft.com/office/drawing/2014/main" id="{8646F6A4-FFAC-4ED0-9687-7D1EB93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6个契约实体及质量门、证据、降级、缺口、交付与组成关系均已入图。</a:t>
            </a:r>
          </a:p>
        </p:txBody>
      </p:sp>
      <p:sp>
        <p:nvSpPr>
          <p:cNvPr id="6" name="gap-line-0">
            <a:extLst xmlns:a="http://schemas.openxmlformats.org/drawingml/2006/main">
              <a:ext uri="{FF2B5EF4-FFF2-40B4-BE49-F238E27FC236}">
                <a16:creationId xmlns:a16="http://schemas.microsoft.com/office/drawing/2014/main" id="{D0C219A3-ABB5-48A1-A5CE-A2D2B69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gap-num-1">
            <a:extLst xmlns:a="http://schemas.openxmlformats.org/drawingml/2006/main">
              <a:ext uri="{FF2B5EF4-FFF2-40B4-BE49-F238E27FC236}">
                <a16:creationId xmlns:a16="http://schemas.microsoft.com/office/drawing/2014/main" id="{06184156-AEBB-459B-BB45-EFA7BC7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gap-title-1">
            <a:extLst xmlns:a="http://schemas.openxmlformats.org/drawingml/2006/main">
              <a:ext uri="{FF2B5EF4-FFF2-40B4-BE49-F238E27FC236}">
                <a16:creationId xmlns:a16="http://schemas.microsoft.com/office/drawing/2014/main" id="{69311535-59E5-44CB-A7D3-05B2DB4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24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复杂处境的决策空间仍偏小</a:t>
            </a:r>
          </a:p>
        </p:txBody>
      </p:sp>
      <p:sp>
        <p:nvSpPr>
          <p:cNvPr id="9" name="gap-body-1">
            <a:extLst xmlns:a="http://schemas.openxmlformats.org/drawingml/2006/main">
              <a:ext uri="{FF2B5EF4-FFF2-40B4-BE49-F238E27FC236}">
                <a16:creationId xmlns:a16="http://schemas.microsoft.com/office/drawing/2014/main" id="{883AE252-63B4-4929-B5A3-57B6DB8A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当前候选常被预先排序，智能规划空间接近选择最高分方案。</a:t>
            </a:r>
          </a:p>
        </p:txBody>
      </p:sp>
      <p:sp>
        <p:nvSpPr>
          <p:cNvPr id="10" name="gap-line-1">
            <a:extLst xmlns:a="http://schemas.openxmlformats.org/drawingml/2006/main">
              <a:ext uri="{FF2B5EF4-FFF2-40B4-BE49-F238E27FC236}">
                <a16:creationId xmlns:a16="http://schemas.microsoft.com/office/drawing/2014/main" id="{3D854EC0-B56C-4272-A7CB-542D591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gap-num-2">
            <a:extLst xmlns:a="http://schemas.openxmlformats.org/drawingml/2006/main">
              <a:ext uri="{FF2B5EF4-FFF2-40B4-BE49-F238E27FC236}">
                <a16:creationId xmlns:a16="http://schemas.microsoft.com/office/drawing/2014/main" id="{2E46F5D4-330E-4E5C-AF50-4C4CC3B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gap-title-2">
            <a:extLst xmlns:a="http://schemas.openxmlformats.org/drawingml/2006/main">
              <a:ext uri="{FF2B5EF4-FFF2-40B4-BE49-F238E27FC236}">
                <a16:creationId xmlns:a16="http://schemas.microsoft.com/office/drawing/2014/main" id="{27EFF112-AEDE-4036-8593-D110A04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模拟规划路径仍有接口问题</a:t>
            </a:r>
          </a:p>
        </p:txBody>
      </p:sp>
      <p:sp>
        <p:nvSpPr>
          <p:cNvPr id="13" name="gap-body-2">
            <a:extLst xmlns:a="http://schemas.openxmlformats.org/drawingml/2006/main">
              <a:ext uri="{FF2B5EF4-FFF2-40B4-BE49-F238E27FC236}">
                <a16:creationId xmlns:a16="http://schemas.microsoft.com/office/drawing/2014/main" id="{7CA474A0-F9D3-40AC-A0F9-D138989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模拟规划读取的候选位置与实际上下文不一致，容易直接回落到确定性方案。</a:t>
            </a:r>
          </a:p>
        </p:txBody>
      </p:sp>
      <p:sp>
        <p:nvSpPr>
          <p:cNvPr id="14" name="gap-line-2">
            <a:extLst xmlns:a="http://schemas.openxmlformats.org/drawingml/2006/main">
              <a:ext uri="{FF2B5EF4-FFF2-40B4-BE49-F238E27FC236}">
                <a16:creationId xmlns:a16="http://schemas.microsoft.com/office/drawing/2014/main" id="{2D2A39C3-B434-41E0-A0B9-D151788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43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gap-num-3">
            <a:extLst xmlns:a="http://schemas.openxmlformats.org/drawingml/2006/main">
              <a:ext uri="{FF2B5EF4-FFF2-40B4-BE49-F238E27FC236}">
                <a16:creationId xmlns:a16="http://schemas.microsoft.com/office/drawing/2014/main" id="{B988FB2B-4311-49B0-9D9E-7362756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gap-title-3">
            <a:extLst xmlns:a="http://schemas.openxmlformats.org/drawingml/2006/main">
              <a:ext uri="{FF2B5EF4-FFF2-40B4-BE49-F238E27FC236}">
                <a16:creationId xmlns:a16="http://schemas.microsoft.com/office/drawing/2014/main" id="{DD6AE7EE-EC7C-45C7-8A73-C4BD5F2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增量价值实验尚待完成</a:t>
            </a:r>
          </a:p>
        </p:txBody>
      </p:sp>
      <p:sp>
        <p:nvSpPr>
          <p:cNvPr id="17" name="gap-body-3">
            <a:extLst xmlns:a="http://schemas.openxmlformats.org/drawingml/2006/main">
              <a:ext uri="{FF2B5EF4-FFF2-40B4-BE49-F238E27FC236}">
                <a16:creationId xmlns:a16="http://schemas.microsoft.com/office/drawing/2014/main" id="{CAE4CB53-2C42-44E6-9E88-019D994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0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已有结果汇总工具，但五类基线尚未完成统一运行和统计比较。</a:t>
            </a:r>
          </a:p>
        </p:txBody>
      </p:sp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4AC6B6F0-4955-4843-AC2D-7ACFFC3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9" name="page-10">
            <a:extLst xmlns:a="http://schemas.openxmlformats.org/drawingml/2006/main">
              <a:ext uri="{FF2B5EF4-FFF2-40B4-BE49-F238E27FC236}">
                <a16:creationId xmlns:a16="http://schemas.microsoft.com/office/drawing/2014/main" id="{7FB88D27-D46F-45E0-9401-D441661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6905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1">
            <a:extLst xmlns:a="http://schemas.openxmlformats.org/drawingml/2006/main">
              <a:ext uri="{FF2B5EF4-FFF2-40B4-BE49-F238E27FC236}">
                <a16:creationId xmlns:a16="http://schemas.microsoft.com/office/drawing/2014/main" id="{5D994E36-0481-4121-A2E7-73BB9F4F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契约本体闭环已完成，后续聚焦规划与对照实验</a:t>
            </a:r>
          </a:p>
        </p:txBody>
      </p:sp>
      <p:sp>
        <p:nvSpPr>
          <p:cNvPr id="2" name="title-line-11">
            <a:extLst xmlns:a="http://schemas.openxmlformats.org/drawingml/2006/main">
              <a:ext uri="{FF2B5EF4-FFF2-40B4-BE49-F238E27FC236}">
                <a16:creationId xmlns:a16="http://schemas.microsoft.com/office/drawing/2014/main" id="{4E8A543A-5522-40A9-9BAE-2955115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6147AB54-A931-4907-B4E4-6D9432A0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阶段 1（已完成）</a:t>
            </a:r>
          </a:p>
        </p:txBody>
      </p:sp>
      <p:sp>
        <p:nvSpPr>
          <p:cNvPr id="4" name="phase-line-0">
            <a:extLst xmlns:a="http://schemas.openxmlformats.org/drawingml/2006/main">
              <a:ext uri="{FF2B5EF4-FFF2-40B4-BE49-F238E27FC236}">
                <a16:creationId xmlns:a16="http://schemas.microsoft.com/office/drawing/2014/main" id="{F3192B35-B2F0-42BA-9125-3E83E1D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CC9E37F2-7CC7-495A-BB13-56CD79FA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契约本体闭环</a:t>
            </a:r>
          </a:p>
        </p:txBody>
      </p:sp>
      <p:sp>
        <p:nvSpPr>
          <p:cNvPr id="6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774D001B-6C37-4972-BD7D-07B74DF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6个契约实体已贯通KG种子、仓库、检索、规划、API和Neo4j。</a:t>
            </a:r>
          </a:p>
        </p:txBody>
      </p:sp>
      <p:sp>
        <p:nvSpPr>
          <p:cNvPr id="7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917AC4FC-EF8A-4E2C-B06F-47DC196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8" name="phase-line-1">
            <a:extLst xmlns:a="http://schemas.openxmlformats.org/drawingml/2006/main">
              <a:ext uri="{FF2B5EF4-FFF2-40B4-BE49-F238E27FC236}">
                <a16:creationId xmlns:a16="http://schemas.microsoft.com/office/drawing/2014/main" id="{56726669-A6D5-432A-8289-10D02C39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1F135113-737B-4A2D-BEB7-DF134A8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打通图谱驱动规划</a:t>
            </a:r>
          </a:p>
        </p:txBody>
      </p:sp>
      <p:sp>
        <p:nvSpPr>
          <p:cNvPr id="10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AE18B93-B901-4E99-AEA4-02D47E2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修复模拟规划接口；让计划消费完整契约知识，并保留原始计划、回退与选择证据。</a:t>
            </a:r>
          </a:p>
        </p:txBody>
      </p:sp>
      <p:sp>
        <p:nvSpPr>
          <p:cNvPr id="11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F7F24B87-51C0-4164-9CDA-7BED8BB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2" name="phase-line-2">
            <a:extLst xmlns:a="http://schemas.openxmlformats.org/drawingml/2006/main">
              <a:ext uri="{FF2B5EF4-FFF2-40B4-BE49-F238E27FC236}">
                <a16:creationId xmlns:a16="http://schemas.microsoft.com/office/drawing/2014/main" id="{B200841E-6CC3-44AB-A064-264CB8E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3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599DE8F7-5264-4228-B669-EB12F6F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完成基线与消融</a:t>
            </a:r>
          </a:p>
        </p:txBody>
      </p:sp>
      <p:sp>
        <p:nvSpPr>
          <p:cNvPr id="14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5171D670-FD03-4B2A-896C-2897217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比较固定规则、纯知识图谱、大模型、能力图谱和完整契约图谱。</a:t>
            </a:r>
          </a:p>
        </p:txBody>
      </p:sp>
      <p:sp>
        <p:nvSpPr>
          <p:cNvPr id="15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402449D9-04E1-428A-A5C4-393FDC0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16" name="phase-line-3">
            <a:extLst xmlns:a="http://schemas.openxmlformats.org/drawingml/2006/main">
              <a:ext uri="{FF2B5EF4-FFF2-40B4-BE49-F238E27FC236}">
                <a16:creationId xmlns:a16="http://schemas.microsoft.com/office/drawing/2014/main" id="{4209A3FE-381E-46A1-8246-7D12103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7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7B27B135-A4CD-4F9C-A7CF-8BAAB35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扩展与论文材料</a:t>
            </a:r>
          </a:p>
        </p:txBody>
      </p:sp>
      <p:sp>
        <p:nvSpPr>
          <p:cNvPr id="18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830FB501-D7F3-4A33-A0A2-A3FEF0C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增加复杂案例和多个区域，重复运行并自动生成论文表格与证据索引</a:t>
            </a:r>
          </a:p>
        </p:txBody>
      </p:sp>
      <p:sp>
        <p:nvSpPr>
          <p:cNvPr id="19" name="plan-priority">
            <a:extLst xmlns:a="http://schemas.openxmlformats.org/drawingml/2006/main">
              <a:ext uri="{FF2B5EF4-FFF2-40B4-BE49-F238E27FC236}">
                <a16:creationId xmlns:a16="http://schemas.microsoft.com/office/drawing/2014/main" id="{38A228EE-2573-4D9B-B3D9-D2D5A90E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近期优先级：先修复规划接口并完成五类基线，再扩展复杂案例和多区域实验。</a:t>
            </a:r>
          </a:p>
        </p:txBody>
      </p:sp>
      <p:sp>
        <p:nvSpPr>
          <p:cNvPr id="20" name="footer-11">
            <a:extLst xmlns:a="http://schemas.openxmlformats.org/drawingml/2006/main">
              <a:ext uri="{FF2B5EF4-FFF2-40B4-BE49-F238E27FC236}">
                <a16:creationId xmlns:a16="http://schemas.microsoft.com/office/drawing/2014/main" id="{657840A7-7CE7-4BC3-BDEA-DAD0BD1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1" name="page-11">
            <a:extLst xmlns:a="http://schemas.openxmlformats.org/drawingml/2006/main">
              <a:ext uri="{FF2B5EF4-FFF2-40B4-BE49-F238E27FC236}">
                <a16:creationId xmlns:a16="http://schemas.microsoft.com/office/drawing/2014/main" id="{F5EF9155-DEB8-4F14-B239-26C5A02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40739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2">
            <a:extLst xmlns:a="http://schemas.openxmlformats.org/drawingml/2006/main">
              <a:ext uri="{FF2B5EF4-FFF2-40B4-BE49-F238E27FC236}">
                <a16:creationId xmlns:a16="http://schemas.microsoft.com/office/drawing/2014/main" id="{32DD49F2-FB68-4C0F-A956-82DC1DC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本次希望重点讨论并确认三个问题</a:t>
            </a:r>
          </a:p>
        </p:txBody>
      </p:sp>
      <p:sp>
        <p:nvSpPr>
          <p:cNvPr id="2" name="title-line-12">
            <a:extLst xmlns:a="http://schemas.openxmlformats.org/drawingml/2006/main">
              <a:ext uri="{FF2B5EF4-FFF2-40B4-BE49-F238E27FC236}">
                <a16:creationId xmlns:a16="http://schemas.microsoft.com/office/drawing/2014/main" id="{52F14F12-24E3-45A2-B239-38D0E5C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CB608308-02F1-4219-B3FF-7D59D9B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E3156E4E-0E79-4795-B7DA-CC3AB3D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954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论文第一创新点是否确定为“契约化灾害应急数据产品知识图谱”？</a:t>
            </a:r>
          </a:p>
        </p:txBody>
      </p:sp>
      <p:sp>
        <p:nvSpPr>
          <p:cNvPr id="5" name="decision-line-0">
            <a:extLst xmlns:a="http://schemas.openxmlformats.org/drawingml/2006/main">
              <a:ext uri="{FF2B5EF4-FFF2-40B4-BE49-F238E27FC236}">
                <a16:creationId xmlns:a16="http://schemas.microsoft.com/office/drawing/2014/main" id="{04FCD41F-702B-4C28-B711-C250B28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193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1DD23316-4CC5-476E-9D95-A4376CD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7610D3B0-4342-4392-ACA9-56BA20FD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527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知识图谱是否需要采用正式本体方法，并加入规范或专家验证？</a:t>
            </a:r>
          </a:p>
        </p:txBody>
      </p:sp>
      <p:sp>
        <p:nvSpPr>
          <p:cNvPr id="8" name="decision-line-1">
            <a:extLst xmlns:a="http://schemas.openxmlformats.org/drawingml/2006/main">
              <a:ext uri="{FF2B5EF4-FFF2-40B4-BE49-F238E27FC236}">
                <a16:creationId xmlns:a16="http://schemas.microsoft.com/office/drawing/2014/main" id="{E4CA8101-AF58-4E09-9317-23B19F4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BC40F929-AAB3-498B-BB15-3BD0FD1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27E657E4-1256-4D1D-8F07-F5B6516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00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五类基线、6–8 个复杂案例和多个区域是否足以支撑硕士论文评价？</a:t>
            </a:r>
          </a:p>
        </p:txBody>
      </p:sp>
      <p:sp>
        <p:nvSpPr>
          <p:cNvPr id="11" name="final-takeaway-bg">
            <a:extLst xmlns:a="http://schemas.openxmlformats.org/drawingml/2006/main">
              <a:ext uri="{FF2B5EF4-FFF2-40B4-BE49-F238E27FC236}">
                <a16:creationId xmlns:a16="http://schemas.microsoft.com/office/drawing/2014/main" id="{8CFD75E3-3F53-4500-8E8D-DDABBF36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382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12" name="final-takeaway">
            <a:extLst xmlns:a="http://schemas.openxmlformats.org/drawingml/2006/main">
              <a:ext uri="{FF2B5EF4-FFF2-40B4-BE49-F238E27FC236}">
                <a16:creationId xmlns:a16="http://schemas.microsoft.com/office/drawing/2014/main" id="{580776CA-5F41-4EE5-A76C-A5AC9F91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产品契约本体层已落地；下一阶段关键是证明它能否改善计划合理性和交付质量。</a:t>
            </a:r>
          </a:p>
        </p:txBody>
      </p:sp>
      <p:sp>
        <p:nvSpPr>
          <p:cNvPr id="13" name="footer-12">
            <a:extLst xmlns:a="http://schemas.openxmlformats.org/drawingml/2006/main">
              <a:ext uri="{FF2B5EF4-FFF2-40B4-BE49-F238E27FC236}">
                <a16:creationId xmlns:a16="http://schemas.microsoft.com/office/drawing/2014/main" id="{E2ADB9FB-EA08-4074-B09A-8128781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12">
            <a:extLst xmlns:a="http://schemas.openxmlformats.org/drawingml/2006/main">
              <a:ext uri="{FF2B5EF4-FFF2-40B4-BE49-F238E27FC236}">
                <a16:creationId xmlns:a16="http://schemas.microsoft.com/office/drawing/2014/main" id="{FA0A07EE-6159-45F7-B0D3-33676E9F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5251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2026-07-27T08:31:41.4010000Z</dcterms:created>
  <dcterms:modified xsi:type="dcterms:W3CDTF">2026-07-27T08:31:41.4010000Z</dcterms:modified>
</coreProperties>
</file>